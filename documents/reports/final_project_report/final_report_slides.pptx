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an Chu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InterMedium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Medium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9T01:42:56.262">
    <p:pos x="6000" y="0"/>
    <p:text>Insert t-SNE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c142d815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ec142d815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ec142d815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ec142d815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ec142d815_0_1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ec142d815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Hospital readmissions within 30 days are a massive healthcare problem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cost Medicare $26 billion annually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15-20% of patients get readmitted within a month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Current prediction models rely entirely on structured data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Lab values, vital signs, billing codes, medication lists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they're missing critical information that lives in clinical notes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Quality of discharge planning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Social determinants: Does patient have housing? Family support?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Patient comprehension: Can they understand their medications?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All of this is documented in text but ignored by traditional models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focused on the highest-risk population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Patients with both heart failure and acute kidney injury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Extended hospital stays: 15 days or longer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patients have a 25% readmission rate—much higher than general population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dataset from MIMIC-IV contains 15,659 of these high-risk admissions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ec142d815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ec142d815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built models to combine text and structured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Expected: Adding text would improve predictions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Reality: Adding text actually made our model WORSE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call this the "Fusion Paradox"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embeddings from transformer models like BERT: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768 dimensions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Inherently noisy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Contain administrative boilerplate, redundant descriptions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High linguistic variability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Structured features (lab values, medication sequences):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Only 128 dimensions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Clean physiological signal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Direct clinical measurements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our small-data regime with ~15,000 training samples: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High-variance text completely dominates the feature space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Model overfits to text noise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Can't learn from clean physiological patterns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see this in our visualization: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Text embeddings form a diffuse, noisy cloud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Structured features are tightly clustered with clear signal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numbers prove it: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Naive concatenation: 0.612 AUROC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Structured data ALONE: 0.641 AUROC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Adding data made performance worse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ec142d815_0_1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aec142d815_0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we fix the Fusion Paradox?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solution: Gated Fusion Neural Network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insight: Don't assume every modality is equally useful for every patient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Let the model LEARN when to trust text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Let it LEARN when to trust structured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Here's our architecture [POINT TO DIAGRAM]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Structured EHR pathway: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Daily sequences of labs, medications, diagnoses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Encoded with Transformer (not GRU)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Output: 128-dimensional representation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Transformers better capture long-range dependencies in these 15-day stays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Clinical notes pathway: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Discharge summaries and radiology reports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Encoded with BioClinical-ModernBERT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Has 8,000 token context window—can fit entire discharge summary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 then apply PCA to compress from 768 to 64 dimensions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This compression is crucial—prevents text from overwhelming structured features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Gated fusion mechanism: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Learned gate: single number between 0 and 1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Model learns this during training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Formula: h_fused = z × h_text + (1-z) × h_struct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Dynamically decides how much weight to give each modality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Different for each patient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Result: We resolve the Fusion Paradox by adaptive weighting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ec142d815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ec142d815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are our test set results on 1,569 held-out admissions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XGBoost on structured data alone: Our strongest baseline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AUROC: 0.641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But F1 score is ZERO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Why? It's poorly calibrated—so conservative it predicts almost no one gets readmitted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Not useful for clinical deployment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Gated Fusion model: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AUROC: 0.638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Essentially matches the XGBoost baseline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F1 score: 0.29—much better!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Properly calibrated for clinical use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Early Fusion MLP (hyperparameter optimized):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Also 0.638 AUROC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Even better F1: 0.35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Shows that with proper tuning, even "simple" concatenation can work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Compare to naive concatenation: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Remember, naive approach only got 0.612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Gated Fusion RECOVERED the lost performance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 got back to baseline level and added clinical utility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 finding: Transformers vs GRUs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Transformer encoder: 0.658 validation AUROC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GRU encoder: 0.651 validation AUROC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Transformers are superior for these temporal clinical sequences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Attention mechanism captures long-range dependencies better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takeaway: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Smart fusion architecture matters MORE than just adding data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Learned weighting beats naive concatenation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ec142d815_0_1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ec142d815_0_1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also tried some ambitious approaches that didn't work out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they taught us important lessons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Neural Networks (GraphSAGE):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Built patient-similarity graph with k=15 nearest neighbors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Based on multimodal features: EHR + text embeddings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Results: High recall (72%) but poor discrimination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AUROC only 0.596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Also very unstable during training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Trade-off: catch more readmissions but tons of false alarms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LLM prompting with Llama 3.1 70B: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Tried zero-shot, one-shot, and few-shot prompting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Gave it demographics, sparse EHR summary, and full clinical notes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Zero-shot and one-shot: AUROC ~0.52 (basically random)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Few-shot: AUROC 0.60 but completely useless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Why? Predicted 97% of patients would be readmitted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Perfect recall but terrible precision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we learned: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negative results validated our focused approach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Complex architectures (GNN) or massive models (70B LLM) don't automatically win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Domain-specific fusion design matters more than model size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ec142d815_0_1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ec142d815_0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summarize, three main contributions: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Contribution 1: Identified the "Fusion Paradox"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 small-data regimes, more modalities ≠ better performance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High-variance embeddings can overwhelm clean signals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This is a general finding relevant beyond readmission prediction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Contribution 2: Gated Fusion resolves the paradox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Learned adaptive weighting beats naive concatenation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Recovers lost performance and improves calibration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Matches tree baseline while being clinically useful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Contribution 3: Validated Transformers for clinical time series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Self-attention &gt; recurrent architectures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Better at capturing long-range dependencies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0.658 vs 0.651 on our temporal physiological sequences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real-world deployment, our recommendations: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XGBoost for daily risk ranking (fast, interpretable)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Overlay Gated Fusion for high-recall alerts on top decile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Combines efficiency with clinical utility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Future work: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End-to-end training: jointly optimize Transformer encoder + Gated Fusion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Could push beyond current 0.64 AUROC plateau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External validation on other hospital systems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you! Happy to take questions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ec142d815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ec142d815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ec142d815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ec142d815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2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2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5" name="Google Shape;105;p22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22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2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22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22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23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23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3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3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3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3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7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7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7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29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0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31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3" name="Google Shape;163;p31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31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3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1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31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1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1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31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31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1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31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31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76" name="Google Shape;176;p31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1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31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32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9" name="Google Shape;189;p32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5" name="Google Shape;195;p33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3" name="Google Shape;203;p35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39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39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9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9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9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2" name="Google Shape;232;p41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1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2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8" name="Google Shape;238;p42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9" name="Google Shape;239;p42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42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42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42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42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42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4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43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50" name="Google Shape;250;p43"/>
          <p:cNvPicPr preferRelativeResize="0"/>
          <p:nvPr/>
        </p:nvPicPr>
        <p:blipFill rotWithShape="1">
          <a:blip r:embed="rId2">
            <a:alphaModFix/>
          </a:blip>
          <a:srcRect b="38736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45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5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46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4" name="Google Shape;28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7" name="Google Shape;2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1" name="Google Shape;291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2" name="Google Shape;292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2" name="Google Shape;302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3" name="Google Shape;313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320" name="Google Shape;320;p54"/>
          <p:cNvSpPr txBox="1"/>
          <p:nvPr>
            <p:ph idx="4294967295" type="title"/>
          </p:nvPr>
        </p:nvSpPr>
        <p:spPr>
          <a:xfrm>
            <a:off x="226525" y="753350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NLP-Driven Temporally-Aware 30-Day Readmission Prediction on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MIMIC-IV</a:t>
            </a:r>
            <a:br>
              <a:rPr lang="en" sz="8500"/>
            </a:br>
            <a:r>
              <a:rPr b="0" lang="en" sz="1600"/>
              <a:t>DATASCI 266 Fall 2025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David Lin and Daniel Chung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</p:txBody>
      </p:sp>
      <p:pic>
        <p:nvPicPr>
          <p:cNvPr id="321" name="Google Shape;321;p54"/>
          <p:cNvPicPr preferRelativeResize="0"/>
          <p:nvPr/>
        </p:nvPicPr>
        <p:blipFill rotWithShape="1">
          <a:blip r:embed="rId3">
            <a:alphaModFix/>
          </a:blip>
          <a:srcRect b="0" l="0" r="41707" t="0"/>
          <a:stretch/>
        </p:blipFill>
        <p:spPr>
          <a:xfrm>
            <a:off x="5134850" y="415463"/>
            <a:ext cx="3771602" cy="4312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5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Fusion Paradox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Experiments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 and Impact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55"/>
          <p:cNvCxnSpPr/>
          <p:nvPr/>
        </p:nvCxnSpPr>
        <p:spPr>
          <a:xfrm>
            <a:off x="563100" y="2757075"/>
            <a:ext cx="7173000" cy="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55"/>
          <p:cNvCxnSpPr/>
          <p:nvPr/>
        </p:nvCxnSpPr>
        <p:spPr>
          <a:xfrm>
            <a:off x="563100" y="3000800"/>
            <a:ext cx="62292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55"/>
          <p:cNvCxnSpPr/>
          <p:nvPr/>
        </p:nvCxnSpPr>
        <p:spPr>
          <a:xfrm>
            <a:off x="563100" y="3248450"/>
            <a:ext cx="7320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55"/>
          <p:cNvCxnSpPr/>
          <p:nvPr/>
        </p:nvCxnSpPr>
        <p:spPr>
          <a:xfrm flipH="1" rot="10800000">
            <a:off x="563100" y="3465675"/>
            <a:ext cx="73740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55"/>
          <p:cNvCxnSpPr/>
          <p:nvPr/>
        </p:nvCxnSpPr>
        <p:spPr>
          <a:xfrm>
            <a:off x="563100" y="3719100"/>
            <a:ext cx="59196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55"/>
          <p:cNvCxnSpPr/>
          <p:nvPr/>
        </p:nvCxnSpPr>
        <p:spPr>
          <a:xfrm flipH="1" rot="10800000">
            <a:off x="563100" y="3976325"/>
            <a:ext cx="5896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55"/>
          <p:cNvCxnSpPr/>
          <p:nvPr/>
        </p:nvCxnSpPr>
        <p:spPr>
          <a:xfrm flipH="1" rot="10800000">
            <a:off x="563100" y="4216200"/>
            <a:ext cx="7072500" cy="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55"/>
          <p:cNvCxnSpPr/>
          <p:nvPr/>
        </p:nvCxnSpPr>
        <p:spPr>
          <a:xfrm flipH="1" rot="10800000">
            <a:off x="563100" y="4455900"/>
            <a:ext cx="7111200" cy="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6" name="Google Shape;336;p5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5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8" name="Google Shape;338;p55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6"/>
          <p:cNvSpPr txBox="1"/>
          <p:nvPr>
            <p:ph idx="1" type="body"/>
          </p:nvPr>
        </p:nvSpPr>
        <p:spPr>
          <a:xfrm>
            <a:off x="311700" y="1389600"/>
            <a:ext cx="5505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Challenge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30-day hospital readmissions cost $26B annually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Current models use only structured data (labs, codes)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Missing critical information in clinical notes: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Discharge planning quality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Social determinants (housing, support)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Patient comprehension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Our Focus: High-risk Cardiorenal patients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25% readmission rate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≥15 day hospital stays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 = 15,659 admissions</a:t>
            </a:r>
            <a:endParaRPr sz="1300"/>
          </a:p>
        </p:txBody>
      </p:sp>
      <p:sp>
        <p:nvSpPr>
          <p:cNvPr id="344" name="Google Shape;344;p56"/>
          <p:cNvSpPr txBox="1"/>
          <p:nvPr>
            <p:ph type="title"/>
          </p:nvPr>
        </p:nvSpPr>
        <p:spPr>
          <a:xfrm>
            <a:off x="311700" y="4298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Motivation</a:t>
            </a:r>
            <a:endParaRPr sz="3300"/>
          </a:p>
        </p:txBody>
      </p:sp>
      <p:pic>
        <p:nvPicPr>
          <p:cNvPr id="345" name="Google Shape;345;p56" title="Focus_hospital_111921.jpg"/>
          <p:cNvPicPr preferRelativeResize="0"/>
          <p:nvPr/>
        </p:nvPicPr>
        <p:blipFill rotWithShape="1">
          <a:blip r:embed="rId3">
            <a:alphaModFix/>
          </a:blip>
          <a:srcRect b="0" l="0" r="9771" t="0"/>
          <a:stretch/>
        </p:blipFill>
        <p:spPr>
          <a:xfrm>
            <a:off x="5330750" y="1399275"/>
            <a:ext cx="3323274" cy="234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idx="1" type="body"/>
          </p:nvPr>
        </p:nvSpPr>
        <p:spPr>
          <a:xfrm>
            <a:off x="311700" y="1389600"/>
            <a:ext cx="5031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Discovery</a:t>
            </a:r>
            <a:r>
              <a:rPr lang="en" sz="1300"/>
              <a:t>: The “Fusion Paradox”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Problem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Naive fusion of text + structured data hurts performance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Why?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Text embeddings: High-variance, noisy (768 dim)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Structured features: Clean signal (128 dimensions)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Small data regime (~15k samples)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Result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Text noise overwhelms physiological signals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Naive concatenation → AUROC 0.611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Structured only → AUROC 0.641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51" name="Google Shape;351;p57"/>
          <p:cNvSpPr txBox="1"/>
          <p:nvPr>
            <p:ph type="title"/>
          </p:nvPr>
        </p:nvSpPr>
        <p:spPr>
          <a:xfrm>
            <a:off x="311700" y="429875"/>
            <a:ext cx="512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The Fusion Paradox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 txBox="1"/>
          <p:nvPr>
            <p:ph idx="1" type="body"/>
          </p:nvPr>
        </p:nvSpPr>
        <p:spPr>
          <a:xfrm>
            <a:off x="311700" y="1389600"/>
            <a:ext cx="5281500" cy="3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Solution: Gated Fusion Neural Network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Key Idea: Learn when to trust each modality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Architecture: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Structure EHR → Transformer Encoder (128 dim)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Clinical Notes → BioClinical-ModernBERT (768 dim → PCA to 64 dim)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Learned Gate (z): Weights modality reliability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h_fused = z * h_text + (1-z) * h_struct</a:t>
            </a:r>
            <a:endParaRPr sz="1300"/>
          </a:p>
        </p:txBody>
      </p:sp>
      <p:sp>
        <p:nvSpPr>
          <p:cNvPr id="357" name="Google Shape;357;p58"/>
          <p:cNvSpPr txBox="1"/>
          <p:nvPr>
            <p:ph type="title"/>
          </p:nvPr>
        </p:nvSpPr>
        <p:spPr>
          <a:xfrm>
            <a:off x="311700" y="429875"/>
            <a:ext cx="512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Solution</a:t>
            </a:r>
            <a:endParaRPr sz="3300"/>
          </a:p>
        </p:txBody>
      </p:sp>
      <p:pic>
        <p:nvPicPr>
          <p:cNvPr id="358" name="Google Shape;358;p58" title="Fig2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150" y="1385113"/>
            <a:ext cx="2712300" cy="2373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/>
          <p:nvPr>
            <p:ph idx="1" type="body"/>
          </p:nvPr>
        </p:nvSpPr>
        <p:spPr>
          <a:xfrm>
            <a:off x="311700" y="1389600"/>
            <a:ext cx="5505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Results: Top Models on Test Set (n=1,569)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Conservative threshold → predicts all negative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Key Findings: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Gated fusion recovers from Fusion Paradox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Matches tree baseline with better calibration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Transformer &gt; GRU for temporal encoding (0.658 vs 0.651)</a:t>
            </a:r>
            <a:endParaRPr sz="1300"/>
          </a:p>
        </p:txBody>
      </p:sp>
      <p:sp>
        <p:nvSpPr>
          <p:cNvPr id="364" name="Google Shape;364;p59"/>
          <p:cNvSpPr txBox="1"/>
          <p:nvPr>
            <p:ph type="title"/>
          </p:nvPr>
        </p:nvSpPr>
        <p:spPr>
          <a:xfrm>
            <a:off x="311700" y="429875"/>
            <a:ext cx="512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Results</a:t>
            </a:r>
            <a:endParaRPr sz="3300"/>
          </a:p>
        </p:txBody>
      </p:sp>
      <p:pic>
        <p:nvPicPr>
          <p:cNvPr id="365" name="Google Shape;365;p59" title="Fig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250" y="698675"/>
            <a:ext cx="3022500" cy="390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idx="1" type="body"/>
          </p:nvPr>
        </p:nvSpPr>
        <p:spPr>
          <a:xfrm>
            <a:off x="420000" y="1397325"/>
            <a:ext cx="5505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What Didn’t Work (and why)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Graph Neural Networks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Patient-similarity graph (k=15 neighbors)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High recall (72%) but low AUROC (0.596)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Training instability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LLM Prompting (Llama 70B)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Zero/one-shot: AUROC = 0.52 (random)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Few-shot: 97% predict readmitted (useless)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Validated our focused </a:t>
            </a:r>
            <a:r>
              <a:rPr lang="en" sz="1300"/>
              <a:t>approach!</a:t>
            </a:r>
            <a:endParaRPr sz="1300"/>
          </a:p>
        </p:txBody>
      </p:sp>
      <p:sp>
        <p:nvSpPr>
          <p:cNvPr id="371" name="Google Shape;371;p60"/>
          <p:cNvSpPr txBox="1"/>
          <p:nvPr>
            <p:ph type="title"/>
          </p:nvPr>
        </p:nvSpPr>
        <p:spPr>
          <a:xfrm>
            <a:off x="311700" y="429875"/>
            <a:ext cx="595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Additional Experiments</a:t>
            </a:r>
            <a:endParaRPr sz="3300"/>
          </a:p>
        </p:txBody>
      </p:sp>
      <p:pic>
        <p:nvPicPr>
          <p:cNvPr id="372" name="Google Shape;37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100" y="1338725"/>
            <a:ext cx="2914203" cy="3238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/>
          <p:nvPr>
            <p:ph idx="1" type="body"/>
          </p:nvPr>
        </p:nvSpPr>
        <p:spPr>
          <a:xfrm>
            <a:off x="438825" y="1379825"/>
            <a:ext cx="5505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Key Contributions: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Identified the “Fusion Paradox”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More data isn’t always better in small regimes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Gated Fusion resolves the paradox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Learned weighting &gt; naive concatenation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Transformers &gt; GRUs for </a:t>
            </a:r>
            <a:r>
              <a:rPr lang="en" sz="1300"/>
              <a:t>clinical</a:t>
            </a:r>
            <a:r>
              <a:rPr lang="en" sz="1300"/>
              <a:t> time series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Attention captures long-range dependencies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Deployment Recommendation: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XGBoost for ranking + Gated Fusion for high-recall alerts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Future Work: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End-to-end </a:t>
            </a:r>
            <a:r>
              <a:rPr lang="en" sz="1300"/>
              <a:t>training</a:t>
            </a:r>
            <a:r>
              <a:rPr lang="en" sz="1300"/>
              <a:t> of transformer + gated fusion</a:t>
            </a:r>
            <a:endParaRPr sz="1300"/>
          </a:p>
        </p:txBody>
      </p:sp>
      <p:sp>
        <p:nvSpPr>
          <p:cNvPr id="378" name="Google Shape;378;p61"/>
          <p:cNvSpPr txBox="1"/>
          <p:nvPr>
            <p:ph type="title"/>
          </p:nvPr>
        </p:nvSpPr>
        <p:spPr>
          <a:xfrm>
            <a:off x="311700" y="429875"/>
            <a:ext cx="512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Takeaways and Impact</a:t>
            </a:r>
            <a:endParaRPr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341550" y="1108200"/>
            <a:ext cx="8460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Almeida, Moreno, Barata (2025) — </a:t>
            </a:r>
            <a:r>
              <a:rPr i="1" lang="en"/>
              <a:t>Prediction of 30-day hospital readmission with clinical notes and EHR information</a:t>
            </a:r>
            <a:r>
              <a:rPr lang="en"/>
              <a:t>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Pandey, Tile, Oghaz (2025) — </a:t>
            </a:r>
            <a:r>
              <a:rPr i="1" lang="en"/>
              <a:t>Predicting 30-day hospital readmissions using ClinicalT5</a:t>
            </a:r>
            <a:r>
              <a:rPr lang="en"/>
              <a:t>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Khan et al. (2025) — </a:t>
            </a:r>
            <a:r>
              <a:rPr i="1" lang="en"/>
              <a:t>Predicting 30-Day Readmission for Heart Failure Using Code Embeddings on MIMIC-IV</a:t>
            </a:r>
            <a:r>
              <a:rPr lang="en"/>
              <a:t>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Licerio (2024) — </a:t>
            </a:r>
            <a:r>
              <a:rPr i="1" lang="en"/>
              <a:t>Predicting 30-Day Unplanned ICU Readmissions Using Deep Learning and NLP: A MIMIC-IV Analysis</a:t>
            </a:r>
            <a:r>
              <a:rPr lang="en"/>
              <a:t>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Huang et al. (2020) — </a:t>
            </a:r>
            <a:r>
              <a:rPr i="1" lang="en"/>
              <a:t>ClinicalBERT: Modeling Clinical Notes and Predicting Hospital Readmission</a:t>
            </a:r>
            <a:r>
              <a:rPr lang="en"/>
              <a:t>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Weiss, Jiang (2021) — Overview of Clinical Conditions With Frequent and Costly Hospital Readmissions by Payer, HCUP Statistical Brief #278. </a:t>
            </a:r>
            <a:endParaRPr/>
          </a:p>
        </p:txBody>
      </p:sp>
      <p:sp>
        <p:nvSpPr>
          <p:cNvPr id="384" name="Google Shape;384;p62"/>
          <p:cNvSpPr txBox="1"/>
          <p:nvPr>
            <p:ph type="title"/>
          </p:nvPr>
        </p:nvSpPr>
        <p:spPr>
          <a:xfrm>
            <a:off x="311700" y="429875"/>
            <a:ext cx="512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References</a:t>
            </a:r>
            <a:endParaRPr sz="3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0" name="Google Shape;390;p63"/>
          <p:cNvSpPr txBox="1"/>
          <p:nvPr>
            <p:ph idx="1" type="body"/>
          </p:nvPr>
        </p:nvSpPr>
        <p:spPr>
          <a:xfrm>
            <a:off x="275125" y="395567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pic>
        <p:nvPicPr>
          <p:cNvPr id="391" name="Google Shape;391;p63"/>
          <p:cNvPicPr preferRelativeResize="0"/>
          <p:nvPr/>
        </p:nvPicPr>
        <p:blipFill rotWithShape="1">
          <a:blip r:embed="rId3">
            <a:alphaModFix/>
          </a:blip>
          <a:srcRect b="0" l="7852" r="10687" t="0"/>
          <a:stretch/>
        </p:blipFill>
        <p:spPr>
          <a:xfrm>
            <a:off x="4452075" y="724850"/>
            <a:ext cx="4376174" cy="38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